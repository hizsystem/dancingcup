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A580C"/>
                </a:solidFill>
                <a:latin typeface="맑은 고딕"/>
              </a:rPr>
              <a:t>MARKETING PLAN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댄싱컵 2026, </a:t>
            </a:r>
            <a:r>
              <a:rPr sz="4000" b="1">
                <a:solidFill>
                  <a:srgbClr val="EA580C"/>
                </a:solidFill>
                <a:latin typeface="맑은 고딕"/>
              </a:rPr>
              <a:t>2가지 축</a:t>
            </a:r>
            <a:r>
              <a:rPr sz="4000" b="1">
                <a:solidFill>
                  <a:srgbClr val="FFFFFF"/>
                </a:solidFill>
                <a:latin typeface="맑은 고딕"/>
              </a:rPr>
              <a:t>으로</a:t>
            </a:r>
          </a:p>
          <a:p>
            <a:r>
              <a:rPr sz="4000" b="1">
                <a:solidFill>
                  <a:srgbClr val="FFFFFF"/>
                </a:solidFill>
                <a:latin typeface="맑은 고딕"/>
              </a:rPr>
              <a:t>브랜드 확장</a:t>
            </a:r>
          </a:p>
          <a:p>
            <a:pPr>
              <a:spcBef>
                <a:spcPts val="1800"/>
              </a:spcBef>
            </a:pPr>
            <a:r>
              <a:rPr sz="2200" b="0">
                <a:solidFill>
                  <a:srgbClr val="AAAAAA"/>
                </a:solidFill>
                <a:latin typeface="맑은 고딕"/>
              </a:rPr>
              <a:t>딥라떼 마케팅 기획안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57784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AAAAAA"/>
                </a:solidFill>
                <a:latin typeface="맑은 고딕"/>
              </a:rPr>
              <a:t>제안 대상  (주)위드런 · 댄싱컵      |      기간  2026.04 – 2026.12      |      v4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1A1A"/>
                </a:solidFill>
                <a:latin typeface="맑은 고딕"/>
              </a:rPr>
              <a:t>01 / 12    </a:t>
            </a:r>
            <a:r>
              <a:rPr sz="1200" b="0">
                <a:solidFill>
                  <a:srgbClr val="6A6A6A"/>
                </a:solidFill>
                <a:latin typeface="맑은 고딕"/>
              </a:rPr>
              <a:t>2가지 축을 통한 브랜드 확장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0561320" cy="25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EA580C"/>
                </a:solidFill>
                <a:latin typeface="맑은 고딕"/>
              </a:rPr>
              <a:t>2가지 축</a:t>
            </a:r>
            <a:r>
              <a:rPr sz="3100" b="1">
                <a:solidFill>
                  <a:srgbClr val="1A1A1A"/>
                </a:solidFill>
                <a:latin typeface="맑은 고딕"/>
              </a:rPr>
              <a:t>으로 댄싱컵을 키웁니다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6A6A6A"/>
                </a:solidFill>
                <a:latin typeface="맑은 고딕"/>
              </a:rPr>
              <a:t>A축은 단골 재방문(리텐션), B축은 새 손님 유입(신규 유입). 두 축이 함께 작동합니다.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6070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A축 · 리텐션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딥라떼 전략 — '라떼 맛있는 집' 포지셔닝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B축 · 신규 유입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유행 메뉴 바이럴 — 트렌드 캐치 포지셔닝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1A1A"/>
                </a:solidFill>
                <a:latin typeface="맑은 고딕"/>
              </a:rPr>
              <a:t>02 / 12    </a:t>
            </a:r>
            <a:r>
              <a:rPr sz="1200" b="0">
                <a:solidFill>
                  <a:srgbClr val="6A6A6A"/>
                </a:solidFill>
                <a:latin typeface="맑은 고딕"/>
              </a:rPr>
              <a:t>한 장으로 보는 딥라떼 전략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0561320" cy="25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EA580C"/>
                </a:solidFill>
                <a:latin typeface="맑은 고딕"/>
              </a:rPr>
              <a:t>'라떼 하면 댄싱컵'</a:t>
            </a:r>
            <a:r>
              <a:rPr sz="3100" b="1">
                <a:solidFill>
                  <a:srgbClr val="1A1A1A"/>
                </a:solidFill>
                <a:latin typeface="맑은 고딕"/>
              </a:rPr>
              <a:t> — 이렇게 만듭니다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6A6A6A"/>
                </a:solidFill>
                <a:latin typeface="맑은 고딕"/>
              </a:rPr>
              <a:t>우리가 '맛있다'고 주장하지 않습니다. 사람들의 '거기서 거기지'라는 생각을 바꾸고, 그 인정을 남이 말하게 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6070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STEP 1 · 장벽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'이런 데 라떼가 거기서 거기지' → 그걸 바꿀 실물 = 딥라떼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STEP 2 · 1차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커피 애호가가 '생각보다 괜찮네'를 여러 번 보여줌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STEP 3 · 2차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전문가가 '맛있는 이유'를 직접 분석 → 권위로 인정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STEP 4 · 누적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남이 말하는 평판이 쌓여 '라떼 = 댄싱컵'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1A1A"/>
                </a:solidFill>
                <a:latin typeface="맑은 고딕"/>
              </a:rPr>
              <a:t>03 / 12    </a:t>
            </a:r>
            <a:r>
              <a:rPr sz="1200" b="0">
                <a:solidFill>
                  <a:srgbClr val="6A6A6A"/>
                </a:solidFill>
                <a:latin typeface="맑은 고딕"/>
              </a:rPr>
              <a:t>바꿔야 할 생각 · 그걸 바꿀 한 잔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0561320" cy="25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EA580C"/>
                </a:solidFill>
                <a:latin typeface="맑은 고딕"/>
              </a:rPr>
              <a:t>'거기서 거기지'</a:t>
            </a:r>
            <a:r>
              <a:rPr sz="3100" b="1">
                <a:solidFill>
                  <a:srgbClr val="1A1A1A"/>
                </a:solidFill>
                <a:latin typeface="맑은 고딕"/>
              </a:rPr>
              <a:t> 그 생각부터 바꿉니다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6A6A6A"/>
                </a:solidFill>
                <a:latin typeface="맑은 고딕"/>
              </a:rPr>
              <a:t>저가·프랜차이즈 라떼에 기대가 없지만, 마신 사람은 '생각보다 괜찮네'. 그 생각이 달라지는 순간을 계속 보여줍니다.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6070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딥라떼 정의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깊은 에스프레소 + 라떼 밸런스에 맞춘 우유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오리지널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우유 결 자체가 진한 기준선 · 1년 상시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너티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우유 블렌딩의 고소함 · 라떼 입문 메뉴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솔티드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여름 메인 · 짭짤한 결 (검증된 어휘)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1A1A"/>
                </a:solidFill>
                <a:latin typeface="맑은 고딕"/>
              </a:rPr>
              <a:t>04 / 12    </a:t>
            </a:r>
            <a:r>
              <a:rPr sz="1200" b="0">
                <a:solidFill>
                  <a:srgbClr val="6A6A6A"/>
                </a:solidFill>
                <a:latin typeface="맑은 고딕"/>
              </a:rPr>
              <a:t>여름~초가을 · 생각이 달라지는 순간을 쌓는다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0561320" cy="25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EA580C"/>
                </a:solidFill>
                <a:latin typeface="맑은 고딕"/>
              </a:rPr>
              <a:t>커피 애호가</a:t>
            </a:r>
            <a:r>
              <a:rPr sz="3100" b="1">
                <a:solidFill>
                  <a:srgbClr val="1A1A1A"/>
                </a:solidFill>
                <a:latin typeface="맑은 고딕"/>
              </a:rPr>
              <a:t>가 '이거 괜찮네'를 보여줍니다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6A6A6A"/>
                </a:solidFill>
                <a:latin typeface="맑은 고딕"/>
              </a:rPr>
              <a:t>커피에 진심일수록 기대가 낮다. 그런 사람이 '어 괜찮은데?' 하는 장면이 가장 믿긴다. 여러 명이 시차를 두면 발견처럼 퍼진다.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6070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포맷 ① 리액션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'어 괜찮네' 첫 시음 한 컷 (연출 X·진짜 반응)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포맷 ② 품평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'라떼 좀 아는데' 우유·바디감 구체 코멘트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포맷 ③ 일상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카페 브이로그에 자연스럽게 등장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후보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커피뚜벅이 · 바리스타조이 · 퍼퍼커피 · 창원사람들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1A1A"/>
                </a:solidFill>
                <a:latin typeface="맑은 고딕"/>
              </a:rPr>
              <a:t>05 / 12    </a:t>
            </a:r>
            <a:r>
              <a:rPr sz="1200" b="0">
                <a:solidFill>
                  <a:srgbClr val="6A6A6A"/>
                </a:solidFill>
                <a:latin typeface="맑은 고딕"/>
              </a:rPr>
              <a:t>가을 브랜디드 · '맛있는 데는 이유가 있다'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0561320" cy="25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EA580C"/>
                </a:solidFill>
                <a:latin typeface="맑은 고딕"/>
              </a:rPr>
              <a:t>전문가</a:t>
            </a:r>
            <a:r>
              <a:rPr sz="3100" b="1">
                <a:solidFill>
                  <a:srgbClr val="1A1A1A"/>
                </a:solidFill>
                <a:latin typeface="맑은 고딕"/>
              </a:rPr>
              <a:t>가 '왜 맛있는지' 분석합니다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6A6A6A"/>
                </a:solidFill>
                <a:latin typeface="맑은 고딕"/>
              </a:rPr>
              <a:t>1차로 알려진 뒤, 전문가가 우유 결·추출·밸런스를 짚으며 이유를 설명. 권위 있는 분석은 그 자체로 신뢰가 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6070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선입견 없이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브랜드 앞세우지 않고 라떼 자체부터 평가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이유 분석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'맛있다'가 아니라 '이래서 다르다'를 구체적으로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댄싱컵으로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분석의 결론이 댄싱컵 딥라떼로 모임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후보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남자커피 · 정인성 LULL · 커피하는람쥐 (안스타·전주연 제외)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1A1A"/>
                </a:solidFill>
                <a:latin typeface="맑은 고딕"/>
              </a:rPr>
              <a:t>06 / 12    </a:t>
            </a:r>
            <a:r>
              <a:rPr sz="1200" b="0">
                <a:solidFill>
                  <a:srgbClr val="6A6A6A"/>
                </a:solidFill>
                <a:latin typeface="맑은 고딕"/>
              </a:rPr>
              <a:t>애호가가 깔고 · 전문가가 못 박는다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0561320" cy="25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1A1A1A"/>
                </a:solidFill>
                <a:latin typeface="맑은 고딕"/>
              </a:rPr>
              <a:t>저변을 깔고, </a:t>
            </a:r>
            <a:r>
              <a:rPr sz="3100" b="1">
                <a:solidFill>
                  <a:srgbClr val="EA580C"/>
                </a:solidFill>
                <a:latin typeface="맑은 고딕"/>
              </a:rPr>
              <a:t>가장 셀 때</a:t>
            </a:r>
            <a:r>
              <a:rPr sz="3100" b="1">
                <a:solidFill>
                  <a:srgbClr val="1A1A1A"/>
                </a:solidFill>
                <a:latin typeface="맑은 고딕"/>
              </a:rPr>
              <a:t> 권위를 얹습니다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6A6A6A"/>
                </a:solidFill>
                <a:latin typeface="맑은 고딕"/>
              </a:rPr>
              <a:t>인지도 0일 때 전문가부터 쓰면 도달이 아깝다. 애호가로 저변을 깔고 그 위에 전문가 권위. 가을은 PPL 예산 시점.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6070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1차 저변 (여름~초가을)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커피 애호가 다수 — '생각보다 괜찮네' 누적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2차 분석 (가을 브랜디드)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전문가가 이유 분석 — PPL 예산과 맞물림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상시 누적 (전 기간)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일반인 후기·재방문 → '라떼 하면 댄싱컵'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1A1A"/>
                </a:solidFill>
                <a:latin typeface="맑은 고딕"/>
              </a:rPr>
              <a:t>07 / 12    </a:t>
            </a:r>
            <a:r>
              <a:rPr sz="1200" b="0">
                <a:solidFill>
                  <a:srgbClr val="6A6A6A"/>
                </a:solidFill>
                <a:latin typeface="맑은 고딕"/>
              </a:rPr>
              <a:t>누구를 위한 라떼 · 어떤 순간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0561320" cy="25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1A1A1A"/>
                </a:solidFill>
                <a:latin typeface="맑은 고딕"/>
              </a:rPr>
              <a:t>일상 가격대</a:t>
            </a:r>
            <a:r>
              <a:rPr sz="3100" b="1">
                <a:solidFill>
                  <a:srgbClr val="1A1A1A"/>
                </a:solidFill>
                <a:latin typeface="맑은 고딕"/>
              </a:rPr>
              <a:t>인데 </a:t>
            </a:r>
            <a:r>
              <a:rPr sz="3100" b="1">
                <a:solidFill>
                  <a:srgbClr val="EA580C"/>
                </a:solidFill>
                <a:latin typeface="맑은 고딕"/>
              </a:rPr>
              <a:t>맛있는 라떼</a:t>
            </a:r>
            <a:r>
              <a:rPr sz="3100" b="1">
                <a:solidFill>
                  <a:srgbClr val="1A1A1A"/>
                </a:solidFill>
                <a:latin typeface="맑은 고딕"/>
              </a:rPr>
              <a:t>를 찾는 사람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6A6A6A"/>
                </a:solidFill>
                <a:latin typeface="맑은 고딕"/>
              </a:rPr>
              <a:t>2,500~4,000원 일상 가격대에서도 라떼 맛집을 원하는 소비자. 딥라떼는 이 사람의 일상 4가지 순간(TPO)에 박힌다.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6070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TPO ① 여유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뷰·통유리 — 한 박자 쉬는 시간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TPO ② 브이로그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셀카·POV — 자생 발화 자리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TPO ③ 음악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LP·BGM — 공간+음료+사운드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TPO ④ 페어링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디저트와 한 세트 경험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1A1A"/>
                </a:solidFill>
                <a:latin typeface="맑은 고딕"/>
              </a:rPr>
              <a:t>08 / 12    </a:t>
            </a:r>
            <a:r>
              <a:rPr sz="1200" b="0">
                <a:solidFill>
                  <a:srgbClr val="6A6A6A"/>
                </a:solidFill>
                <a:latin typeface="맑은 고딕"/>
              </a:rPr>
              <a:t>5~6월 · 7~8월 · 9~10월 · 11~12월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0561320" cy="25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1A1A1A"/>
                </a:solidFill>
                <a:latin typeface="맑은 고딕"/>
              </a:rPr>
              <a:t>솔티드 7월 · 너티 9월 · </a:t>
            </a:r>
            <a:r>
              <a:rPr sz="3100" b="1">
                <a:solidFill>
                  <a:srgbClr val="EA580C"/>
                </a:solidFill>
                <a:latin typeface="맑은 고딕"/>
              </a:rPr>
              <a:t>신메뉴 11월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6A6A6A"/>
                </a:solidFill>
                <a:latin typeface="맑은 고딕"/>
              </a:rPr>
              <a:t>키워드 빌드업 → 1차 애호가 시딩 → 9~10월 PLAN A·B 분기 → 11월 신메뉴로 이어집니다.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6070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5~6월 빌드업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키워드 뿌리기 · 서포터즈 1차 모집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7~8월 솔티드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출시 + 1차 커피 애호가 시딩 본격화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9~10월 PLAN A·B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전문가 콜라보 메뉴 vs 유튜브 브랜디드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11~12월 신메뉴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연말 무드 · 커뮤니티 확장 · 1년 운영 보고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1A1A"/>
                </a:solidFill>
                <a:latin typeface="맑은 고딕"/>
              </a:rPr>
              <a:t>09 / 12    </a:t>
            </a:r>
            <a:r>
              <a:rPr sz="1200" b="0">
                <a:solidFill>
                  <a:srgbClr val="6A6A6A"/>
                </a:solidFill>
                <a:latin typeface="맑은 고딕"/>
              </a:rPr>
              <a:t>10월 — 인플루언서 운영 두 갈래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0561320" cy="25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1A1A1A"/>
                </a:solidFill>
                <a:latin typeface="맑은 고딕"/>
              </a:rPr>
              <a:t>10월, 두 갈래 </a:t>
            </a:r>
            <a:r>
              <a:rPr sz="3100" b="1">
                <a:solidFill>
                  <a:srgbClr val="EA580C"/>
                </a:solidFill>
                <a:latin typeface="맑은 고딕"/>
              </a:rPr>
              <a:t>전문가</a:t>
            </a:r>
            <a:r>
              <a:rPr sz="3100" b="1">
                <a:solidFill>
                  <a:srgbClr val="1A1A1A"/>
                </a:solidFill>
                <a:latin typeface="맑은 고딕"/>
              </a:rPr>
              <a:t> 운영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6A6A6A"/>
                </a:solidFill>
                <a:latin typeface="맑은 고딕"/>
              </a:rPr>
              <a:t>9월 말 솔티드 운영 데이터로 결정. 둘 다 전문가·바리스타 라인 — 1차 애호가 시딩과 다른 2차 권위 콘텐츠.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6070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PLAN A · 콜라보 메뉴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전문가와 R&amp;D 협업 신메뉴 + 인플 채널 PPL (10/15경)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PLAN B · 유튜브 브랜디드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정규 3종 안에서 깊이 있는 시음·분석 영상 다수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예산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PPL 3,000~5,000만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REF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빽다방×엄보람(WBC 챔피언) · 안스타×LULL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1A1A"/>
                </a:solidFill>
                <a:latin typeface="맑은 고딕"/>
              </a:rPr>
              <a:t>10 / 12    </a:t>
            </a:r>
            <a:r>
              <a:rPr sz="1200" b="0">
                <a:solidFill>
                  <a:srgbClr val="6A6A6A"/>
                </a:solidFill>
                <a:latin typeface="맑은 고딕"/>
              </a:rPr>
              <a:t>결은 따로 · 호흡은 다르게 · 4축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0561320" cy="25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1A1A1A"/>
                </a:solidFill>
                <a:latin typeface="맑은 고딕"/>
              </a:rPr>
              <a:t>채널 넷, </a:t>
            </a:r>
            <a:r>
              <a:rPr sz="3100" b="1">
                <a:solidFill>
                  <a:srgbClr val="EA580C"/>
                </a:solidFill>
                <a:latin typeface="맑은 고딕"/>
              </a:rPr>
              <a:t>역할이 다른</a:t>
            </a:r>
            <a:r>
              <a:rPr sz="3100" b="1">
                <a:solidFill>
                  <a:srgbClr val="1A1A1A"/>
                </a:solidFill>
                <a:latin typeface="맑은 고딕"/>
              </a:rPr>
              <a:t> 운영입니다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6A6A6A"/>
                </a:solidFill>
                <a:latin typeface="맑은 고딕"/>
              </a:rPr>
              <a:t>같은 메뉴라도 채널마다 결과 호흡이 다르다. 한 채널 톤을 그대로 옮기면 둘 다 흐려진다.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6070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인스타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톤 유지 · 1년 가는 자리 · AI 릴스(I2V)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바이럴 릴스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Meta 광고 소재 라인 (TTS·후킹)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X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부산 토박이 운영자 톤 · 셀프디스 · 30분 룰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틱톡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바이럴 릴스 미러링 확산 · 신규 제작 0건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1A1A"/>
                </a:solidFill>
                <a:latin typeface="맑은 고딕"/>
              </a:rPr>
              <a:t>11 / 12    </a:t>
            </a:r>
            <a:r>
              <a:rPr sz="1200" b="0">
                <a:solidFill>
                  <a:srgbClr val="6A6A6A"/>
                </a:solidFill>
                <a:latin typeface="맑은 고딕"/>
              </a:rPr>
              <a:t>알바생 · 콘텐츠 1차 공급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0561320" cy="25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EA580C"/>
                </a:solidFill>
                <a:latin typeface="맑은 고딕"/>
              </a:rPr>
              <a:t>알바생 10명</a:t>
            </a:r>
            <a:r>
              <a:rPr sz="3100" b="1">
                <a:solidFill>
                  <a:srgbClr val="1A1A1A"/>
                </a:solidFill>
                <a:latin typeface="맑은 고딕"/>
              </a:rPr>
              <a:t>이 월 </a:t>
            </a:r>
            <a:r>
              <a:rPr sz="3100" b="1">
                <a:solidFill>
                  <a:srgbClr val="EA580C"/>
                </a:solidFill>
                <a:latin typeface="맑은 고딕"/>
              </a:rPr>
              <a:t>20개</a:t>
            </a:r>
            <a:r>
              <a:rPr sz="3100" b="1">
                <a:solidFill>
                  <a:srgbClr val="1A1A1A"/>
                </a:solidFill>
                <a:latin typeface="맑은 고딕"/>
              </a:rPr>
              <a:t> 콘텐츠를 만듭니다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6A6A6A"/>
                </a:solidFill>
                <a:latin typeface="맑은 고딕"/>
              </a:rPr>
              <a:t>매장 자생 콘텐츠를 공식 채널로 흡수하는 모델. 이디야 메이튜·달리는커피 달커즈가 검증. 아래는 1기 모집안.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6070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모집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매장 알바 1개월+ · SNS 1개 활성 계정 · 부산권 우선 · 10명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기간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6개월 사이클 (입문 OT → 리뷰 → 수료·정규 전환 검토)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산출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월 20개 (1인 2개) · 공식 채널 흡수율 50%+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혜택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월 활동비 10만원 · 우수 콘텐츠 보상 · 수료 굿즈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1A1A"/>
                </a:solidFill>
                <a:latin typeface="맑은 고딕"/>
              </a:rPr>
              <a:t>12 / 12    </a:t>
            </a:r>
            <a:r>
              <a:rPr sz="1200" b="0">
                <a:solidFill>
                  <a:srgbClr val="6A6A6A"/>
                </a:solidFill>
                <a:latin typeface="맑은 고딕"/>
              </a:rPr>
              <a:t>측정 지표 · Plan A·B 예산 분리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0561320" cy="25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1A1A1A"/>
                </a:solidFill>
                <a:latin typeface="맑은 고딕"/>
              </a:rPr>
              <a:t>9개월 </a:t>
            </a:r>
            <a:r>
              <a:rPr sz="3100" b="1">
                <a:solidFill>
                  <a:srgbClr val="EA580C"/>
                </a:solidFill>
                <a:latin typeface="맑은 고딕"/>
              </a:rPr>
              <a:t>7,200 ~ 10,100만</a:t>
            </a:r>
            <a:r>
              <a:rPr sz="3100" b="1">
                <a:solidFill>
                  <a:srgbClr val="1A1A1A"/>
                </a:solidFill>
                <a:latin typeface="맑은 고딕"/>
              </a:rPr>
              <a:t> — 두 시안으로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6A6A6A"/>
                </a:solidFill>
                <a:latin typeface="맑은 고딕"/>
              </a:rPr>
              <a:t>측정 지표 4축을 매월 추적. 예산은 리테이너 + 유행 메뉴 바이럴 3건 + 9~12월 추가 3 라인.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6070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KPI · 인스타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팔로워 2,518 → 6,000+ · 인게이지 월 3%+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KPI · 콘텐츠/확산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릴스 조회·저장 · UGC·자생 발화량 추적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예산 PLAN A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인플 콜라보 메뉴 개발비 포함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▪  예산 PLAN B   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신메뉴 없이 정규 3종 안에서 운영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